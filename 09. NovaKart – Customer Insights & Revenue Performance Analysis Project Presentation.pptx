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5" r:id="rId4"/>
    <p:sldId id="276" r:id="rId5"/>
    <p:sldId id="260" r:id="rId6"/>
    <p:sldId id="272" r:id="rId7"/>
    <p:sldId id="278" r:id="rId8"/>
    <p:sldId id="279" r:id="rId9"/>
    <p:sldId id="262" r:id="rId10"/>
    <p:sldId id="273" r:id="rId11"/>
    <p:sldId id="264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1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152" y="1618488"/>
            <a:ext cx="12070080" cy="996696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NovaKart</a:t>
            </a:r>
            <a:r>
              <a:rPr lang="en-US" b="1" dirty="0"/>
              <a:t> – Customer Insights &amp; Revenue Performance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A4C0-B7AF-0662-1685-9F0A253D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ACE6-7DAF-25CD-F33F-391CB457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81B44-A52F-9B3D-D276-F112728B3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 err="1"/>
              <a:t>Novakart’s</a:t>
            </a:r>
            <a:r>
              <a:rPr lang="en-US" sz="1500" b="1" dirty="0"/>
              <a:t> customers, products &amp; purchases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user engagement, product optimization, targeted marketing, inventory planning, and regional focus.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  <a:endParaRPr lang="en-US" sz="1500" dirty="0"/>
          </a:p>
          <a:p>
            <a:pPr lvl="1"/>
            <a:r>
              <a:rPr lang="en-US" sz="1500" dirty="0"/>
              <a:t>To analyze customer behavior, revenue, and profit trends for </a:t>
            </a:r>
            <a:r>
              <a:rPr lang="en-US" sz="1500" b="1" dirty="0" err="1"/>
              <a:t>NovaKart</a:t>
            </a:r>
            <a:r>
              <a:rPr lang="en-US" sz="1500" dirty="0"/>
              <a:t>, an e-commerce retail dataset</a:t>
            </a:r>
          </a:p>
          <a:p>
            <a:pPr lvl="1"/>
            <a:r>
              <a:rPr lang="en-US" sz="1500" dirty="0"/>
              <a:t>To identify </a:t>
            </a:r>
            <a:r>
              <a:rPr lang="en-US" sz="1500" b="1" dirty="0"/>
              <a:t>high-performing customer segments, geographies, products and time periods</a:t>
            </a:r>
            <a:endParaRPr lang="en-US" sz="1500" dirty="0"/>
          </a:p>
          <a:p>
            <a:pPr lvl="1"/>
            <a:r>
              <a:rPr lang="en-US" sz="1500" dirty="0"/>
              <a:t>To convert raw transactional data into </a:t>
            </a:r>
            <a:r>
              <a:rPr lang="en-US" sz="1500" b="1" dirty="0"/>
              <a:t>actionable business insights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endParaRPr lang="en-US" sz="1500" dirty="0"/>
          </a:p>
          <a:p>
            <a:pPr lvl="1"/>
            <a:r>
              <a:rPr lang="en-US" sz="1500" b="1" dirty="0"/>
              <a:t>Total Customers: </a:t>
            </a:r>
            <a:r>
              <a:rPr lang="en-US" sz="1500" dirty="0"/>
              <a:t>997</a:t>
            </a:r>
          </a:p>
          <a:p>
            <a:pPr lvl="1"/>
            <a:r>
              <a:rPr lang="en-US" sz="1500" b="1" dirty="0"/>
              <a:t>Total Revenue: </a:t>
            </a:r>
            <a:r>
              <a:rPr lang="en-US" sz="1500" dirty="0"/>
              <a:t>2.96M</a:t>
            </a:r>
          </a:p>
          <a:p>
            <a:pPr lvl="1"/>
            <a:r>
              <a:rPr lang="en-US" sz="1500" b="1" dirty="0"/>
              <a:t>Total Profit: </a:t>
            </a:r>
            <a:r>
              <a:rPr lang="en-US" sz="1500" dirty="0"/>
              <a:t>3.29M</a:t>
            </a:r>
          </a:p>
          <a:p>
            <a:pPr lvl="1"/>
            <a:r>
              <a:rPr lang="en-US" sz="1500" b="1" dirty="0"/>
              <a:t>Average Profit Margin (%): </a:t>
            </a:r>
            <a:r>
              <a:rPr lang="en-US" sz="1500" dirty="0"/>
              <a:t>80.42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/>
              <a:t>Deliverables:</a:t>
            </a:r>
            <a:endParaRPr lang="en-US" sz="1500" dirty="0"/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endParaRPr lang="en-US" sz="1500" dirty="0"/>
          </a:p>
          <a:p>
            <a:pPr lvl="1"/>
            <a:r>
              <a:rPr lang="en-US" sz="1500" dirty="0"/>
              <a:t>Exploratory &amp; analytical </a:t>
            </a:r>
            <a:r>
              <a:rPr lang="en-US" sz="1500" b="1" dirty="0"/>
              <a:t>Python (Jupyter) notebook</a:t>
            </a:r>
            <a:endParaRPr lang="en-US" sz="1500" dirty="0"/>
          </a:p>
          <a:p>
            <a:pPr lvl="1"/>
            <a:r>
              <a:rPr lang="en-US" sz="1500" dirty="0"/>
              <a:t>Insight-driven </a:t>
            </a:r>
            <a:r>
              <a:rPr lang="en-US" sz="1500" b="1" dirty="0"/>
              <a:t>business recommendations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4206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0039-12C2-BD55-72BC-7CE9CAF1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0694-8302-CBD4-1A24-FA7ED369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E811-F41C-566D-C45B-24C6C43AD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sz="1500" dirty="0"/>
              <a:t>The analysis helps </a:t>
            </a:r>
            <a:r>
              <a:rPr lang="en-US" sz="1500" dirty="0" err="1"/>
              <a:t>NovaKart’s</a:t>
            </a:r>
            <a:r>
              <a:rPr lang="en-US" sz="1500" dirty="0"/>
              <a:t> </a:t>
            </a:r>
            <a:r>
              <a:rPr lang="en-US" sz="1500" b="1" dirty="0"/>
              <a:t>marketing, R&amp;D,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sz="1500" dirty="0" err="1"/>
              <a:t>NovaKart</a:t>
            </a:r>
            <a:r>
              <a:rPr lang="en-US" sz="1500" dirty="0"/>
              <a:t> operates across multiple </a:t>
            </a:r>
            <a:r>
              <a:rPr lang="en-US" sz="1500" b="1" dirty="0"/>
              <a:t>states and cities</a:t>
            </a:r>
            <a:endParaRPr lang="en-US" sz="1500" dirty="0"/>
          </a:p>
          <a:p>
            <a:pPr lvl="1"/>
            <a:r>
              <a:rPr lang="en-US" sz="1500" dirty="0"/>
              <a:t>Customers purchase products from different </a:t>
            </a:r>
            <a:r>
              <a:rPr lang="en-US" sz="1500" b="1" dirty="0"/>
              <a:t>companies and categories</a:t>
            </a:r>
            <a:endParaRPr lang="en-US" sz="1500" dirty="0"/>
          </a:p>
          <a:p>
            <a:pPr lvl="1"/>
            <a:r>
              <a:rPr lang="en-US" sz="1500" dirty="0"/>
              <a:t>Dataset captures </a:t>
            </a:r>
            <a:r>
              <a:rPr lang="en-US" sz="1500" b="1" dirty="0"/>
              <a:t>demographics, geography, revenue, profit, and time-based attributes</a:t>
            </a:r>
            <a:endParaRPr lang="en-US" sz="1500" dirty="0"/>
          </a:p>
          <a:p>
            <a:pPr lvl="1"/>
            <a:r>
              <a:rPr lang="en-US" sz="1500" dirty="0"/>
              <a:t>Goal was to replicate </a:t>
            </a:r>
            <a:r>
              <a:rPr lang="en-US" sz="1500" b="1" dirty="0"/>
              <a:t>Power BI insights using Python</a:t>
            </a:r>
            <a:r>
              <a:rPr lang="en-US" sz="1500" dirty="0"/>
              <a:t> for analytical consistency</a:t>
            </a:r>
          </a:p>
          <a:p>
            <a:pPr marL="0" indent="0">
              <a:buNone/>
            </a:pPr>
            <a:endParaRPr lang="en-US" sz="1500" dirty="0"/>
          </a:p>
          <a:p>
            <a:pPr lvl="1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3989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CBA7-B2EC-113A-63CA-08AC4CE3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6269-369E-FA03-9818-12C6476A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A16E-7E4C-F05D-43DC-96B4E227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Simulated retail transactional dataset for customer, product &amp; revenue analytics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transactional and customer-level sales data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Multi-month transactional snapshot (aggregated for trend analysis)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/>
              <a:t>Customer , Product &amp; Purchase level records </a:t>
            </a:r>
          </a:p>
          <a:p>
            <a:pPr lvl="1"/>
            <a:r>
              <a:rPr lang="en-US" sz="1500" b="1" dirty="0"/>
              <a:t>Total Rows: </a:t>
            </a:r>
            <a:r>
              <a:rPr lang="en-US" sz="1500" dirty="0"/>
              <a:t>Customers -  ~1000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Customer Details:</a:t>
            </a:r>
            <a:r>
              <a:rPr lang="en-US" sz="1500" dirty="0"/>
              <a:t> </a:t>
            </a:r>
            <a:r>
              <a:rPr lang="en-US" sz="1500" dirty="0" err="1"/>
              <a:t>customer_id</a:t>
            </a:r>
            <a:r>
              <a:rPr lang="en-US" sz="1500" dirty="0"/>
              <a:t>, </a:t>
            </a:r>
            <a:r>
              <a:rPr lang="en-US" sz="1500" dirty="0" err="1"/>
              <a:t>full_name</a:t>
            </a:r>
            <a:r>
              <a:rPr lang="en-US" sz="1500" dirty="0"/>
              <a:t>, gender, city, state</a:t>
            </a:r>
          </a:p>
          <a:p>
            <a:pPr lvl="2"/>
            <a:r>
              <a:rPr lang="en-US" sz="1500" b="1" dirty="0"/>
              <a:t>Product Details:</a:t>
            </a:r>
            <a:r>
              <a:rPr lang="en-US" sz="1500" dirty="0"/>
              <a:t> </a:t>
            </a:r>
            <a:r>
              <a:rPr lang="en-US" sz="1500" dirty="0" err="1"/>
              <a:t>product_id</a:t>
            </a:r>
            <a:r>
              <a:rPr lang="en-US" sz="1500" dirty="0"/>
              <a:t>, product, company, </a:t>
            </a:r>
            <a:r>
              <a:rPr lang="en-US" sz="1500" dirty="0" err="1"/>
              <a:t>product_qty</a:t>
            </a:r>
            <a:endParaRPr lang="en-US" sz="1500" dirty="0"/>
          </a:p>
          <a:p>
            <a:pPr lvl="2"/>
            <a:r>
              <a:rPr lang="en-US" sz="1500" b="1" dirty="0"/>
              <a:t>Time Attributes:</a:t>
            </a:r>
            <a:r>
              <a:rPr lang="en-US" sz="1500" dirty="0"/>
              <a:t> </a:t>
            </a:r>
            <a:r>
              <a:rPr lang="en-US" sz="1500" dirty="0" err="1"/>
              <a:t>purchase_date</a:t>
            </a:r>
            <a:r>
              <a:rPr lang="en-US" sz="1500" dirty="0"/>
              <a:t>, month, day</a:t>
            </a:r>
          </a:p>
          <a:p>
            <a:pPr lvl="2"/>
            <a:r>
              <a:rPr lang="en-US" sz="1500" b="1" dirty="0"/>
              <a:t>Financial Metrics:</a:t>
            </a:r>
            <a:r>
              <a:rPr lang="en-US" sz="1500" dirty="0"/>
              <a:t> revenue, profit, </a:t>
            </a:r>
            <a:r>
              <a:rPr lang="en-US" sz="1500" dirty="0" err="1"/>
              <a:t>profit_margin</a:t>
            </a:r>
            <a:endParaRPr lang="en-US" sz="1500" dirty="0"/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Revenue &amp; profit contribution</a:t>
            </a:r>
          </a:p>
          <a:p>
            <a:pPr lvl="2"/>
            <a:r>
              <a:rPr lang="en-US" sz="1500" dirty="0"/>
              <a:t>Profit margin (%)</a:t>
            </a:r>
          </a:p>
          <a:p>
            <a:pPr lvl="2"/>
            <a:r>
              <a:rPr lang="en-US" sz="1500" dirty="0"/>
              <a:t>Customer &amp; city-level aggregation KPIs</a:t>
            </a:r>
          </a:p>
          <a:p>
            <a:pPr lvl="2"/>
            <a:r>
              <a:rPr lang="en-US" sz="1500" dirty="0"/>
              <a:t>Time-based performance indicators (monthly &amp; weekday trends)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722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/ CSV</a:t>
            </a:r>
            <a:endParaRPr lang="en-US" sz="1500" dirty="0"/>
          </a:p>
          <a:p>
            <a:pPr lvl="2"/>
            <a:r>
              <a:rPr lang="en-US" sz="1500" dirty="0"/>
              <a:t>Data storage &amp; preprocessing</a:t>
            </a:r>
            <a:endParaRPr lang="en-US" sz="1500" b="1" dirty="0"/>
          </a:p>
          <a:p>
            <a:pPr lvl="1"/>
            <a:r>
              <a:rPr lang="en-US" sz="1500" b="1" dirty="0"/>
              <a:t>Python</a:t>
            </a:r>
          </a:p>
          <a:p>
            <a:pPr lvl="2"/>
            <a:r>
              <a:rPr lang="en-US" sz="1500" dirty="0"/>
              <a:t>Pandas, NumPy, Matplotlib, Seaborn</a:t>
            </a:r>
          </a:p>
          <a:p>
            <a:pPr lvl="1"/>
            <a:r>
              <a:rPr lang="en-US" sz="1500" b="1" dirty="0"/>
              <a:t>Jupyter Notebook</a:t>
            </a:r>
          </a:p>
          <a:p>
            <a:pPr lvl="2"/>
            <a:r>
              <a:rPr lang="en-US" sz="1500" dirty="0"/>
              <a:t> Data cleaning, EDA &amp; visual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1B6-B3B2-523E-A6EE-541D848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35A2-BF86-574F-A84C-1D37A000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Removed invalid and "N/A" category values</a:t>
            </a:r>
          </a:p>
          <a:p>
            <a:pPr lvl="2"/>
            <a:r>
              <a:rPr lang="en-US" sz="1400" dirty="0"/>
              <a:t>Standardized categorical fields (Gender, City, State, Month)</a:t>
            </a:r>
          </a:p>
          <a:p>
            <a:pPr lvl="2"/>
            <a:r>
              <a:rPr lang="en-US" sz="1400" dirty="0"/>
              <a:t>Verified data consistency between Python &amp; Power BI outputs</a:t>
            </a:r>
          </a:p>
          <a:p>
            <a:pPr lvl="1"/>
            <a:r>
              <a:rPr lang="en-US" sz="1400" b="1" dirty="0"/>
              <a:t>Data Modeling &amp; Integration:</a:t>
            </a:r>
            <a:endParaRPr lang="en-US" sz="1400" dirty="0"/>
          </a:p>
          <a:p>
            <a:pPr lvl="2"/>
            <a:r>
              <a:rPr lang="en-US" sz="1400" dirty="0"/>
              <a:t>Combined customer, product, and transaction tables into a unified dataset</a:t>
            </a:r>
          </a:p>
          <a:p>
            <a:pPr lvl="2"/>
            <a:r>
              <a:rPr lang="en-US" sz="1400" dirty="0"/>
              <a:t>Established relationships for customer, geography, and time dimensions</a:t>
            </a:r>
          </a:p>
          <a:p>
            <a:pPr lvl="1"/>
            <a:r>
              <a:rPr lang="en-US" sz="1400" b="1" dirty="0"/>
              <a:t>Feature Engineering:</a:t>
            </a:r>
            <a:endParaRPr lang="en-US" sz="1400" dirty="0"/>
          </a:p>
          <a:p>
            <a:pPr lvl="2"/>
            <a:r>
              <a:rPr lang="en-US" sz="1400" dirty="0"/>
              <a:t>Created derived columns for month &amp; weekday analysis</a:t>
            </a:r>
          </a:p>
          <a:p>
            <a:pPr lvl="2"/>
            <a:r>
              <a:rPr lang="en-US" sz="1400" dirty="0"/>
              <a:t>Computed profit margins and revenue contribution metrics</a:t>
            </a:r>
          </a:p>
          <a:p>
            <a:pPr lvl="2"/>
            <a:r>
              <a:rPr lang="en-US" sz="1400" dirty="0"/>
              <a:t>Aggregated KPIs at customer, city, state, and product levels</a:t>
            </a:r>
          </a:p>
          <a:p>
            <a:pPr lvl="1"/>
            <a:r>
              <a:rPr lang="en-US" sz="1400" b="1" dirty="0"/>
              <a:t>Visualization Design:</a:t>
            </a:r>
            <a:endParaRPr lang="en-US" sz="1400" dirty="0"/>
          </a:p>
          <a:p>
            <a:pPr lvl="2"/>
            <a:r>
              <a:rPr lang="en-US" sz="1400" dirty="0"/>
              <a:t>Built two interactive dashboards:</a:t>
            </a:r>
          </a:p>
          <a:p>
            <a:pPr lvl="3"/>
            <a:r>
              <a:rPr lang="en-US" sz="1400" i="1" dirty="0"/>
              <a:t>Customer &amp; Location Insights</a:t>
            </a:r>
          </a:p>
          <a:p>
            <a:pPr lvl="3"/>
            <a:r>
              <a:rPr lang="en-US" sz="1400" i="1" dirty="0"/>
              <a:t>Product &amp; Company Insights</a:t>
            </a:r>
          </a:p>
          <a:p>
            <a:pPr lvl="2"/>
            <a:r>
              <a:rPr lang="en-US" sz="1400" dirty="0"/>
              <a:t>Integrated interactive slicers for dynamic segmentation</a:t>
            </a:r>
          </a:p>
          <a:p>
            <a:pPr lvl="1"/>
            <a:r>
              <a:rPr lang="en-US" sz="1400" b="1" dirty="0"/>
              <a:t>Validation &amp; Formatting:</a:t>
            </a:r>
            <a:endParaRPr lang="en-US" sz="1400" dirty="0"/>
          </a:p>
          <a:p>
            <a:pPr lvl="2"/>
            <a:r>
              <a:rPr lang="en-US" sz="1400" dirty="0"/>
              <a:t>Cross-validated Python visuals with Power BI outputs</a:t>
            </a:r>
          </a:p>
          <a:p>
            <a:pPr lvl="2"/>
            <a:r>
              <a:rPr lang="en-US" sz="1400" dirty="0"/>
              <a:t>Ensured sorting, ordering (months, cities), and KPI consistency</a:t>
            </a:r>
          </a:p>
        </p:txBody>
      </p:sp>
    </p:spTree>
    <p:extLst>
      <p:ext uri="{BB962C8B-B14F-4D97-AF65-F5344CB8AC3E}">
        <p14:creationId xmlns:p14="http://schemas.microsoft.com/office/powerpoint/2010/main" val="218198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Retail businesses generate large volumes of transactional data across customers, products, locations, and time, yet actionable insights are often difficult to extract without structured analysis.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This project analyzes customer-level sales data to understand purchasing behavior, geographic performance, and profitability drivers, enabling stakeholders to identify high-value customers, top-performing regions, and opportunities to improve revenue and profit margins.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customer segments generate the highest revenue and profit?</a:t>
            </a:r>
          </a:p>
          <a:p>
            <a:pPr lvl="1"/>
            <a:r>
              <a:rPr lang="en-US" sz="1500" dirty="0"/>
              <a:t>Which states and cities contribute most to business performance?</a:t>
            </a:r>
          </a:p>
          <a:p>
            <a:pPr lvl="1"/>
            <a:r>
              <a:rPr lang="en-US" sz="1500" dirty="0"/>
              <a:t>How does gender impact revenue and profit trends?</a:t>
            </a:r>
          </a:p>
          <a:p>
            <a:pPr lvl="1"/>
            <a:r>
              <a:rPr lang="en-US" sz="1500" dirty="0"/>
              <a:t>What are the top-performing products and companies?</a:t>
            </a:r>
          </a:p>
          <a:p>
            <a:pPr lvl="1"/>
            <a:r>
              <a:rPr lang="en-US" sz="1500" dirty="0"/>
              <a:t>Which months and weekdays drive maximum sales?</a:t>
            </a:r>
          </a:p>
          <a:p>
            <a:pPr lvl="1"/>
            <a:r>
              <a:rPr lang="en-US" sz="1500" dirty="0"/>
              <a:t>Where are profit margins the strongest geographically?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  <a:endParaRPr lang="en-US" sz="1500" dirty="0"/>
          </a:p>
          <a:p>
            <a:pPr lvl="1"/>
            <a:r>
              <a:rPr lang="en-US" sz="1500" dirty="0"/>
              <a:t>Male customers slightly outperform females in total revenue &amp; profit.</a:t>
            </a:r>
          </a:p>
          <a:p>
            <a:pPr lvl="1"/>
            <a:r>
              <a:rPr lang="en-US" sz="1500" dirty="0"/>
              <a:t>Texas and California are </a:t>
            </a:r>
            <a:r>
              <a:rPr lang="en-US" sz="1500" b="1" dirty="0"/>
              <a:t>top revenue-generating states.</a:t>
            </a:r>
            <a:endParaRPr lang="en-US" sz="1500" dirty="0"/>
          </a:p>
          <a:p>
            <a:pPr lvl="1"/>
            <a:r>
              <a:rPr lang="en-US" sz="1500" dirty="0"/>
              <a:t>Washington and El Paso lead in </a:t>
            </a:r>
            <a:r>
              <a:rPr lang="en-US" sz="1500" b="1" dirty="0"/>
              <a:t>customer concentration.</a:t>
            </a:r>
            <a:endParaRPr lang="en-US" sz="1500" dirty="0"/>
          </a:p>
          <a:p>
            <a:pPr lvl="1"/>
            <a:r>
              <a:rPr lang="en-US" sz="1500" dirty="0"/>
              <a:t>A small group of customers contributes disproportionately to revenue.</a:t>
            </a:r>
          </a:p>
          <a:p>
            <a:pPr lvl="1"/>
            <a:r>
              <a:rPr lang="en-US" sz="1500" dirty="0"/>
              <a:t>Certain products and companies dominate overall sales.</a:t>
            </a:r>
          </a:p>
          <a:p>
            <a:pPr lvl="1"/>
            <a:r>
              <a:rPr lang="en-US" sz="1500" dirty="0"/>
              <a:t>Revenue peaks during specific months, showing </a:t>
            </a:r>
            <a:r>
              <a:rPr lang="en-US" sz="1500" b="1" dirty="0"/>
              <a:t>seasonal trends.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  <a:endParaRPr lang="en-US" sz="1500" dirty="0"/>
          </a:p>
          <a:p>
            <a:pPr lvl="1"/>
            <a:r>
              <a:rPr lang="en-US" sz="1500" b="1" dirty="0"/>
              <a:t>Total Customers:</a:t>
            </a:r>
            <a:r>
              <a:rPr lang="en-US" sz="1500" dirty="0"/>
              <a:t> ~1000</a:t>
            </a:r>
          </a:p>
          <a:p>
            <a:pPr lvl="1"/>
            <a:r>
              <a:rPr lang="en-US" sz="1500" b="1" dirty="0"/>
              <a:t>Total Revenue:</a:t>
            </a:r>
            <a:r>
              <a:rPr lang="en-US" sz="1500" dirty="0"/>
              <a:t> ~3.29M</a:t>
            </a:r>
          </a:p>
          <a:p>
            <a:pPr lvl="1"/>
            <a:r>
              <a:rPr lang="en-US" sz="1500" b="1" dirty="0"/>
              <a:t>Total Profit:</a:t>
            </a:r>
            <a:r>
              <a:rPr lang="en-US" sz="1500" dirty="0"/>
              <a:t> ~2.96M</a:t>
            </a:r>
          </a:p>
          <a:p>
            <a:pPr lvl="1"/>
            <a:r>
              <a:rPr lang="en-US" sz="1500" b="1" dirty="0"/>
              <a:t>Average Profit Margin:</a:t>
            </a:r>
            <a:r>
              <a:rPr lang="en-US" sz="1500" dirty="0"/>
              <a:t> ~80%</a:t>
            </a:r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  <a:endParaRPr lang="en-US" sz="1500" dirty="0"/>
          </a:p>
          <a:p>
            <a:pPr lvl="1"/>
            <a:r>
              <a:rPr lang="en-US" sz="1500" dirty="0" err="1"/>
              <a:t>NovaKart’s</a:t>
            </a:r>
            <a:r>
              <a:rPr lang="en-US" sz="1500" dirty="0"/>
              <a:t> performance is driven by </a:t>
            </a:r>
            <a:r>
              <a:rPr lang="en-US" sz="1500" b="1" dirty="0"/>
              <a:t>specific customer segments, cities, and products.</a:t>
            </a:r>
            <a:endParaRPr lang="en-US" sz="1500" dirty="0"/>
          </a:p>
          <a:p>
            <a:pPr lvl="1"/>
            <a:r>
              <a:rPr lang="en-US" sz="1500" dirty="0"/>
              <a:t>Geographic and demographic analysis reveals </a:t>
            </a:r>
            <a:r>
              <a:rPr lang="en-US" sz="1500" b="1" dirty="0"/>
              <a:t>clear revenue concentration.</a:t>
            </a:r>
            <a:endParaRPr lang="en-US" sz="1500" dirty="0"/>
          </a:p>
          <a:p>
            <a:pPr lvl="1"/>
            <a:r>
              <a:rPr lang="en-US" sz="1500" dirty="0"/>
              <a:t>Python and Power BI results are </a:t>
            </a:r>
            <a:r>
              <a:rPr lang="en-US" sz="1500" b="1" dirty="0"/>
              <a:t>aligned and consistent.</a:t>
            </a:r>
            <a:endParaRPr lang="en-US" sz="1500" dirty="0"/>
          </a:p>
          <a:p>
            <a:pPr lvl="1"/>
            <a:r>
              <a:rPr lang="en-US" sz="1500" dirty="0"/>
              <a:t>Insights can guide </a:t>
            </a:r>
            <a:r>
              <a:rPr lang="en-US" sz="1500" b="1" dirty="0"/>
              <a:t>targeted marketing, inventory planning, and regional focus.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</a:t>
            </a:r>
            <a:r>
              <a:rPr lang="en-US" sz="4000" b="1"/>
              <a:t>Overview (1) </a:t>
            </a:r>
            <a:r>
              <a:rPr lang="en-US" sz="4000" b="1" dirty="0"/>
              <a:t>– Customer &amp; Location Insights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957023-6E40-F872-E57B-88C3071D7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dirty="0"/>
              <a:t>🖥️ </a:t>
            </a:r>
            <a:r>
              <a:rPr lang="en-US" sz="4000" b="1" dirty="0"/>
              <a:t>Dashboard Overview (2) – Product &amp; Company Insights</a:t>
            </a:r>
            <a:endParaRPr lang="en-US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2F79A7-400E-A879-EB2A-A544F34FC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6ED4EB1-EC5B-B0B3-8334-6112BDBAB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4174BB-98E7-78BD-9015-5D65B1A84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930872"/>
            <a:ext cx="12088367" cy="377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b="1" dirty="0"/>
              <a:t>Helps management identify high-value customers. </a:t>
            </a:r>
            <a:r>
              <a:rPr lang="en-US" sz="1500" dirty="0"/>
              <a:t>Enables leadership to recognize customers contributing the highest revenue and profit, supporting targeted retention, personalized offers, and loyalty initiatives.</a:t>
            </a:r>
          </a:p>
          <a:p>
            <a:endParaRPr lang="en-US" sz="1500" b="1" dirty="0"/>
          </a:p>
          <a:p>
            <a:pPr lvl="1"/>
            <a:r>
              <a:rPr lang="en-US" sz="1500" b="1" dirty="0"/>
              <a:t>Enables region-wise strategy optimization. </a:t>
            </a:r>
            <a:r>
              <a:rPr lang="en-US" sz="1500" dirty="0"/>
              <a:t>Provides clear visibility into state- and city-level performance, helping decision-makers prioritize high-performing regions and improve strategies in underperforming locations.</a:t>
            </a:r>
          </a:p>
          <a:p>
            <a:endParaRPr lang="en-US" sz="1500" b="1" dirty="0"/>
          </a:p>
          <a:p>
            <a:pPr lvl="1"/>
            <a:r>
              <a:rPr lang="en-US" sz="1500" b="1" dirty="0"/>
              <a:t>Supports product &amp; vendor performance evaluation. </a:t>
            </a:r>
            <a:r>
              <a:rPr lang="en-US" sz="1500" dirty="0"/>
              <a:t>Assists in identifying top-selling and most profitable products and companies, enabling informed decisions around inventory planning, vendor partnerships, and portfolio optimization.</a:t>
            </a:r>
          </a:p>
          <a:p>
            <a:endParaRPr lang="en-US" sz="1500" b="1" dirty="0"/>
          </a:p>
          <a:p>
            <a:pPr lvl="1"/>
            <a:r>
              <a:rPr lang="en-US" sz="1500" b="1" dirty="0"/>
              <a:t>Assists in seasonal demand forecasting. </a:t>
            </a:r>
            <a:r>
              <a:rPr lang="en-US" sz="1500" dirty="0"/>
              <a:t>Reveals month-wise and weekday-wise sales patterns, helping businesses anticipate demand fluctuations, plan promotions, and allocate resources effectively.</a:t>
            </a:r>
          </a:p>
          <a:p>
            <a:endParaRPr lang="en-US" sz="1500" b="1" dirty="0"/>
          </a:p>
          <a:p>
            <a:pPr lvl="1"/>
            <a:r>
              <a:rPr lang="en-US" sz="1500" b="1" dirty="0"/>
              <a:t>Can be extended for pricing, discount &amp; loyalty analysis. </a:t>
            </a:r>
            <a:r>
              <a:rPr lang="en-US" sz="1500" dirty="0"/>
              <a:t>The analytical framework can be scaled to evaluate pricing strategies, discount effectiveness, and customer loyalty programs for future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286260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5889</TotalTime>
  <Words>1020</Words>
  <Application>Microsoft Office PowerPoint</Application>
  <PresentationFormat>Widescreen</PresentationFormat>
  <Paragraphs>135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NovaKart – Customer Insights &amp; Revenue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Customer &amp; Location Insights </vt:lpstr>
      <vt:lpstr>🖥️ Dashboard Overview (2) – Product &amp; Company Insights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49</cp:revision>
  <dcterms:created xsi:type="dcterms:W3CDTF">2025-10-10T07:10:37Z</dcterms:created>
  <dcterms:modified xsi:type="dcterms:W3CDTF">2026-02-27T20:14:23Z</dcterms:modified>
</cp:coreProperties>
</file>