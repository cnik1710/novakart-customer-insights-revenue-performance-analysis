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74" r:id="rId3"/>
    <p:sldId id="275" r:id="rId4"/>
    <p:sldId id="276" r:id="rId5"/>
    <p:sldId id="260" r:id="rId6"/>
    <p:sldId id="272" r:id="rId7"/>
    <p:sldId id="278" r:id="rId8"/>
    <p:sldId id="279" r:id="rId9"/>
    <p:sldId id="262" r:id="rId10"/>
    <p:sldId id="273" r:id="rId11"/>
    <p:sldId id="264" r:id="rId12"/>
    <p:sldId id="270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B5CF1F-F9A3-4EFC-825C-53D69F984385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831917-29C8-4BC7-957C-F11257860B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502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4192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8610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1760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D07CF-3689-70DD-CB28-AAE11118CA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E1CE79-C9C7-BB25-EF2A-10D0058475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6502CA-5B96-CB8A-20AE-3906E8C37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4E639-AD7E-574C-C9E9-F5B43490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CD176-E79D-6844-CB60-E7C78B681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980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97AB7-A55C-0B82-FAED-B7E332320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41BAA-D510-ABB0-901D-0FAB309B0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12E59-3B88-F398-664D-3985AEA37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125EA-93FA-07C0-7322-40260FD57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5D02C-4A2F-1824-59A1-7983E4498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155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BFFE9-1FD7-F63D-6439-1E27142E8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3D7795-663E-05D7-5AD6-EDE501C60D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78FD33-591E-4820-A128-A94F0B334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673559-082C-1927-2A99-DB0902A7B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344-A764-7087-642A-130D4BDB1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584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862F8-3E12-F92D-405F-D6F538733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0E924-67EF-C4F4-CBC4-3BA853B515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F2A22-3AA1-9209-180C-ACD5CAE43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B6BA27-B2FD-C446-BEC7-8C46DD9BB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8349FC-F9E9-C312-F4C6-8D6D604F9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F505D3-5917-4780-1633-FE4FD2110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070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E271D-B1D1-D670-316D-2468EC1F2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281C9-A6B4-72BB-6420-63D0C9FB8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4F6D81-DC99-1889-9E64-F6033F06DA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58B6AD-9212-7FEB-CFE3-F3E14CFE62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D93A19-BA01-CA22-F22E-732EFB0CE9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AFDF2F-88B4-F652-05E4-CA5A375F5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DAF91B-DD72-2AA0-29EB-85B63003A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67C143-07DD-21D1-88BC-58DBC3BE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718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502C-7C07-3A37-3440-CFE6877CD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934A65-9ABA-A4CB-2DD7-5CB25ECEF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497960-613F-64A1-9E19-FCAF8E811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4E4B99-D02C-E34A-900E-401B4D530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82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7203A9-34DF-1A1A-0FAE-6315B9509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6D59CC-1CEE-6108-18C9-364D0D308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2AA34D-CFA4-C5D3-2E13-D88629799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65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55679-E51D-0CCA-C05C-4463EE166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97ADE-E05C-21F4-DCE0-A14C75F551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6D3006-CFC8-B856-9620-E3B6D8BE98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F8152A-8351-B7BE-2FF4-ECFD17E11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D8D4CE-EDF4-0C77-DFBD-B16DB10CC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4EC1D1-D55C-A862-30A7-9C883B683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3138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672F1-FAF3-F6B1-75BE-9D89225C8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20378F-FD1A-2C35-6AE0-CE2E78A7A9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D4C9C7-AA5D-5148-E367-145C76EB97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CCB853-5ABE-2552-6205-942FD79D3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129388-4C49-BE88-B847-EE920D618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443087-2BB3-A704-D22E-D242C721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027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B142C-5EF6-2436-9786-E5975AD47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D4508B-5FD2-4D1F-FD73-B24651E211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65CB0-E5BC-47F5-6035-DBCFE4349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FF356D-EF3B-C45C-A827-E6901EAFD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5E016-DF99-DC44-C6F3-B22839CB5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58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7D9BCE-A0F0-4C4F-1D8F-DC958C87F4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9F0D40-AC43-C1C8-5C8B-94D803BC07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4B8351-C7F1-1407-53B1-FD03FFC3F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180FF2-A8E9-E359-37B4-ED45884BA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B22B75-6ECC-17A2-20CE-2675B3D9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027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9F13E8-0655-D862-8DF0-C1E93F72E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FBFED0-7C94-95B8-C497-12C513EF13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737FD-4D5B-4F88-10A6-46C987B1D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6CA240-4DCA-41BB-A29D-1D0DE405E1C9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167536-CC95-FFEB-5C32-E7F7DA66E2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86531-DCEC-0275-6210-63850CEAF3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591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cnik1710/" TargetMode="External"/><Relationship Id="rId2" Type="http://schemas.openxmlformats.org/officeDocument/2006/relationships/hyperlink" Target="https://github.com/Cnik1710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D8680-A25A-D894-2D56-B1731FC78D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73152" y="1618488"/>
            <a:ext cx="12070080" cy="996696"/>
          </a:xfrm>
        </p:spPr>
        <p:txBody>
          <a:bodyPr>
            <a:normAutofit fontScale="90000"/>
          </a:bodyPr>
          <a:lstStyle/>
          <a:p>
            <a:r>
              <a:rPr lang="en-US" b="1" dirty="0" err="1"/>
              <a:t>NovaKart</a:t>
            </a:r>
            <a:r>
              <a:rPr lang="en-US" b="1" dirty="0"/>
              <a:t> – Customer Insights &amp; Revenue Performance Analysis</a:t>
            </a:r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6EA40268-244F-926E-D357-3F80868EF7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15184"/>
            <a:ext cx="9713976" cy="2642616"/>
          </a:xfrm>
        </p:spPr>
        <p:txBody>
          <a:bodyPr/>
          <a:lstStyle/>
          <a:p>
            <a:pPr algn="r"/>
            <a:r>
              <a:rPr lang="en-US" b="1" dirty="0"/>
              <a:t>- A Data Analytics Case Study by Anik Chakraborty</a:t>
            </a:r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708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3A4C0-B7AF-0662-1685-9F0A253D2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ACE6-7DAF-25CD-F33F-391CB4575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07007"/>
          </a:xfrm>
        </p:spPr>
        <p:txBody>
          <a:bodyPr/>
          <a:lstStyle/>
          <a:p>
            <a:r>
              <a:rPr lang="en-US" b="1" dirty="0"/>
              <a:t>🎯 Objective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681B44-A52F-9B3D-D276-F112728B3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07008"/>
            <a:ext cx="12192000" cy="56509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Analyze and interpret </a:t>
            </a:r>
            <a:r>
              <a:rPr lang="en-US" sz="1500" b="1" dirty="0" err="1"/>
              <a:t>Novakart’s</a:t>
            </a:r>
            <a:r>
              <a:rPr lang="en-US" sz="1500" b="1" dirty="0"/>
              <a:t> customers, products &amp; purchases data</a:t>
            </a:r>
            <a:r>
              <a:rPr lang="en-US" sz="1500" dirty="0"/>
              <a:t> to uncover actionable insights that drive </a:t>
            </a:r>
            <a:r>
              <a:rPr lang="en-US" sz="1500" b="1" dirty="0"/>
              <a:t>user engagement, product optimization, targeted marketing, inventory planning, and regional focus.</a:t>
            </a:r>
            <a:br>
              <a:rPr lang="en-US" sz="1500" b="1" dirty="0"/>
            </a:br>
            <a:br>
              <a:rPr lang="en-US" sz="1500" b="1" dirty="0"/>
            </a:b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Project Purpose:</a:t>
            </a:r>
            <a:endParaRPr lang="en-US" sz="1500" dirty="0"/>
          </a:p>
          <a:p>
            <a:pPr lvl="1"/>
            <a:r>
              <a:rPr lang="en-US" sz="1500" dirty="0"/>
              <a:t>To analyze customer behavior, revenue, and profit trends for </a:t>
            </a:r>
            <a:r>
              <a:rPr lang="en-US" sz="1500" b="1" dirty="0" err="1"/>
              <a:t>NovaKart</a:t>
            </a:r>
            <a:r>
              <a:rPr lang="en-US" sz="1500" dirty="0"/>
              <a:t>, an e-commerce retail dataset</a:t>
            </a:r>
          </a:p>
          <a:p>
            <a:pPr lvl="1"/>
            <a:r>
              <a:rPr lang="en-US" sz="1500" dirty="0"/>
              <a:t>To identify </a:t>
            </a:r>
            <a:r>
              <a:rPr lang="en-US" sz="1500" b="1" dirty="0"/>
              <a:t>high-performing customer segments, geographies, products and time periods</a:t>
            </a:r>
            <a:endParaRPr lang="en-US" sz="1500" dirty="0"/>
          </a:p>
          <a:p>
            <a:pPr lvl="1"/>
            <a:r>
              <a:rPr lang="en-US" sz="1500" dirty="0"/>
              <a:t>To convert raw transactional data into </a:t>
            </a:r>
            <a:r>
              <a:rPr lang="en-US" sz="1500" b="1" dirty="0"/>
              <a:t>actionable business insights</a:t>
            </a:r>
            <a:endParaRPr lang="en-US" sz="1500" dirty="0"/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Key KPIs:</a:t>
            </a:r>
            <a:endParaRPr lang="en-US" sz="1500" dirty="0"/>
          </a:p>
          <a:p>
            <a:pPr lvl="1"/>
            <a:r>
              <a:rPr lang="en-US" sz="1500" b="1" dirty="0"/>
              <a:t>Total Customers: </a:t>
            </a:r>
            <a:r>
              <a:rPr lang="en-US" sz="1500" dirty="0"/>
              <a:t>997</a:t>
            </a:r>
          </a:p>
          <a:p>
            <a:pPr lvl="1"/>
            <a:r>
              <a:rPr lang="en-US" sz="1500" b="1" dirty="0"/>
              <a:t>Total Revenue: </a:t>
            </a:r>
            <a:r>
              <a:rPr lang="en-US" sz="1500" dirty="0"/>
              <a:t>2.96M</a:t>
            </a:r>
          </a:p>
          <a:p>
            <a:pPr lvl="1"/>
            <a:r>
              <a:rPr lang="en-US" sz="1500" b="1" dirty="0"/>
              <a:t>Total Profit: </a:t>
            </a:r>
            <a:r>
              <a:rPr lang="en-US" sz="1500" dirty="0"/>
              <a:t>3.29M</a:t>
            </a:r>
          </a:p>
          <a:p>
            <a:pPr lvl="1"/>
            <a:r>
              <a:rPr lang="en-US" sz="1500" b="1" dirty="0"/>
              <a:t>Average Profit Margin (%): </a:t>
            </a:r>
            <a:r>
              <a:rPr lang="en-US" sz="1500" dirty="0"/>
              <a:t>80.42</a:t>
            </a:r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/>
              <a:t>Deliverables:</a:t>
            </a:r>
            <a:endParaRPr lang="en-US" sz="1500" dirty="0"/>
          </a:p>
          <a:p>
            <a:pPr lvl="1"/>
            <a:r>
              <a:rPr lang="en-US" sz="1500" dirty="0"/>
              <a:t>Interactive </a:t>
            </a:r>
            <a:r>
              <a:rPr lang="en-US" sz="1500" b="1" dirty="0"/>
              <a:t>Power BI dashboard</a:t>
            </a:r>
            <a:endParaRPr lang="en-US" sz="1500" dirty="0"/>
          </a:p>
          <a:p>
            <a:pPr lvl="1"/>
            <a:r>
              <a:rPr lang="en-US" sz="1500" dirty="0"/>
              <a:t>Exploratory &amp; analytical </a:t>
            </a:r>
            <a:r>
              <a:rPr lang="en-US" sz="1500" b="1" dirty="0"/>
              <a:t>Python (Jupyter) notebook</a:t>
            </a:r>
            <a:endParaRPr lang="en-US" sz="1500" dirty="0"/>
          </a:p>
          <a:p>
            <a:pPr lvl="1"/>
            <a:r>
              <a:rPr lang="en-US" sz="1500" dirty="0"/>
              <a:t>Insight-driven </a:t>
            </a:r>
            <a:r>
              <a:rPr lang="en-US" sz="1500" b="1" dirty="0"/>
              <a:t>business recommendations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3420638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70039-12C2-BD55-72BC-7CE9CAF19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00694-8302-CBD4-1A24-FA7ED3690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42416"/>
          </a:xfrm>
        </p:spPr>
        <p:txBody>
          <a:bodyPr/>
          <a:lstStyle/>
          <a:p>
            <a:r>
              <a:rPr lang="en-US" dirty="0"/>
              <a:t>📘 </a:t>
            </a:r>
            <a:r>
              <a:rPr lang="en-US" b="1" dirty="0"/>
              <a:t>Project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1E811-F41C-566D-C45B-24C6C43AD8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00783"/>
            <a:ext cx="12192000" cy="5157215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Context Highlights:</a:t>
            </a:r>
          </a:p>
          <a:p>
            <a:pPr marL="0" indent="0">
              <a:buNone/>
            </a:pPr>
            <a:r>
              <a:rPr lang="en-US" sz="1500" dirty="0"/>
              <a:t>The analysis helps </a:t>
            </a:r>
            <a:r>
              <a:rPr lang="en-US" sz="1500" dirty="0" err="1"/>
              <a:t>NovaKart’s</a:t>
            </a:r>
            <a:r>
              <a:rPr lang="en-US" sz="1500" dirty="0"/>
              <a:t> </a:t>
            </a:r>
            <a:r>
              <a:rPr lang="en-US" sz="1500" b="1" dirty="0"/>
              <a:t>marketing, R&amp;D, and product teams</a:t>
            </a:r>
            <a:r>
              <a:rPr lang="en-US" sz="1500" dirty="0"/>
              <a:t> understand:</a:t>
            </a:r>
          </a:p>
          <a:p>
            <a:pPr lvl="1"/>
            <a:r>
              <a:rPr lang="en-US" sz="1500" dirty="0" err="1"/>
              <a:t>NovaKart</a:t>
            </a:r>
            <a:r>
              <a:rPr lang="en-US" sz="1500" dirty="0"/>
              <a:t> operates across multiple </a:t>
            </a:r>
            <a:r>
              <a:rPr lang="en-US" sz="1500" b="1" dirty="0"/>
              <a:t>states and cities</a:t>
            </a:r>
            <a:endParaRPr lang="en-US" sz="1500" dirty="0"/>
          </a:p>
          <a:p>
            <a:pPr lvl="1"/>
            <a:r>
              <a:rPr lang="en-US" sz="1500" dirty="0"/>
              <a:t>Customers purchase products from different </a:t>
            </a:r>
            <a:r>
              <a:rPr lang="en-US" sz="1500" b="1" dirty="0"/>
              <a:t>companies and categories</a:t>
            </a:r>
            <a:endParaRPr lang="en-US" sz="1500" dirty="0"/>
          </a:p>
          <a:p>
            <a:pPr lvl="1"/>
            <a:r>
              <a:rPr lang="en-US" sz="1500" dirty="0"/>
              <a:t>Dataset captures </a:t>
            </a:r>
            <a:r>
              <a:rPr lang="en-US" sz="1500" b="1" dirty="0"/>
              <a:t>demographics, geography, revenue, profit, and time-based attributes</a:t>
            </a:r>
            <a:endParaRPr lang="en-US" sz="1500" dirty="0"/>
          </a:p>
          <a:p>
            <a:pPr lvl="1"/>
            <a:r>
              <a:rPr lang="en-US" sz="1500" dirty="0"/>
              <a:t>Goal was to replicate </a:t>
            </a:r>
            <a:r>
              <a:rPr lang="en-US" sz="1500" b="1" dirty="0"/>
              <a:t>Power BI insights using Python</a:t>
            </a:r>
            <a:r>
              <a:rPr lang="en-US" sz="1500" dirty="0"/>
              <a:t> for analytical consistency</a:t>
            </a:r>
          </a:p>
          <a:p>
            <a:pPr marL="0" indent="0">
              <a:buNone/>
            </a:pPr>
            <a:endParaRPr lang="en-US" sz="1500" dirty="0"/>
          </a:p>
          <a:p>
            <a:pPr lvl="1"/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039896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1CBA7-B2EC-113A-63CA-08AC4CE38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6269-369E-FA03-9818-12C6476A8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61287"/>
          </a:xfrm>
        </p:spPr>
        <p:txBody>
          <a:bodyPr/>
          <a:lstStyle/>
          <a:p>
            <a:r>
              <a:rPr lang="en-US" dirty="0"/>
              <a:t>🗂️ </a:t>
            </a:r>
            <a:r>
              <a:rPr lang="en-US" b="1" dirty="0"/>
              <a:t>Data Overview &amp; Schema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BA16E-7E4C-F05D-43DC-96B4E2273B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53312"/>
            <a:ext cx="12192000" cy="550468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b="1" dirty="0"/>
              <a:t>Data Source:</a:t>
            </a:r>
          </a:p>
          <a:p>
            <a:pPr lvl="1"/>
            <a:r>
              <a:rPr lang="en-US" sz="1500" b="1" dirty="0"/>
              <a:t>Source:</a:t>
            </a:r>
            <a:r>
              <a:rPr lang="en-US" sz="1500" dirty="0"/>
              <a:t> Simulated retail transactional dataset for customer, product &amp; revenue analytics</a:t>
            </a:r>
          </a:p>
          <a:p>
            <a:pPr lvl="1"/>
            <a:r>
              <a:rPr lang="en-US" sz="1500" b="1" dirty="0"/>
              <a:t>Data Type:</a:t>
            </a:r>
            <a:r>
              <a:rPr lang="en-US" sz="1500" dirty="0"/>
              <a:t> Structured transactional and customer-level sales data</a:t>
            </a:r>
          </a:p>
          <a:p>
            <a:pPr lvl="1"/>
            <a:r>
              <a:rPr lang="en-US" sz="1500" b="1" dirty="0"/>
              <a:t>Time Period:</a:t>
            </a:r>
            <a:r>
              <a:rPr lang="en-US" sz="1500" dirty="0"/>
              <a:t> Multi-month transactional snapshot (aggregated for trend analysis)</a:t>
            </a: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Data Structure &amp; Metrics:</a:t>
            </a:r>
          </a:p>
          <a:p>
            <a:pPr lvl="1"/>
            <a:r>
              <a:rPr lang="en-US" sz="1500" b="1" dirty="0"/>
              <a:t>Key Index Types: </a:t>
            </a:r>
            <a:r>
              <a:rPr lang="en-US" sz="1500" dirty="0"/>
              <a:t>Customer , Product &amp; Purchase level records </a:t>
            </a:r>
          </a:p>
          <a:p>
            <a:pPr lvl="1"/>
            <a:r>
              <a:rPr lang="en-US" sz="1500" b="1" dirty="0"/>
              <a:t>Total Rows: </a:t>
            </a:r>
            <a:r>
              <a:rPr lang="en-US" sz="1500" dirty="0"/>
              <a:t>Customers -  ~1000</a:t>
            </a:r>
          </a:p>
          <a:p>
            <a:pPr lvl="1"/>
            <a:r>
              <a:rPr lang="en-US" sz="1500" b="1" dirty="0"/>
              <a:t>Categories:</a:t>
            </a:r>
            <a:endParaRPr lang="en-US" sz="1500" dirty="0"/>
          </a:p>
          <a:p>
            <a:pPr lvl="2"/>
            <a:r>
              <a:rPr lang="en-US" sz="1500" b="1" dirty="0"/>
              <a:t>Customer Details:</a:t>
            </a:r>
            <a:r>
              <a:rPr lang="en-US" sz="1500" dirty="0"/>
              <a:t> </a:t>
            </a:r>
            <a:r>
              <a:rPr lang="en-US" sz="1500" dirty="0" err="1"/>
              <a:t>customer_id</a:t>
            </a:r>
            <a:r>
              <a:rPr lang="en-US" sz="1500" dirty="0"/>
              <a:t>, </a:t>
            </a:r>
            <a:r>
              <a:rPr lang="en-US" sz="1500" dirty="0" err="1"/>
              <a:t>full_name</a:t>
            </a:r>
            <a:r>
              <a:rPr lang="en-US" sz="1500" dirty="0"/>
              <a:t>, gender, city, state</a:t>
            </a:r>
          </a:p>
          <a:p>
            <a:pPr lvl="2"/>
            <a:r>
              <a:rPr lang="en-US" sz="1500" b="1" dirty="0"/>
              <a:t>Product Details:</a:t>
            </a:r>
            <a:r>
              <a:rPr lang="en-US" sz="1500" dirty="0"/>
              <a:t> </a:t>
            </a:r>
            <a:r>
              <a:rPr lang="en-US" sz="1500" dirty="0" err="1"/>
              <a:t>product_id</a:t>
            </a:r>
            <a:r>
              <a:rPr lang="en-US" sz="1500" dirty="0"/>
              <a:t>, product, company, </a:t>
            </a:r>
            <a:r>
              <a:rPr lang="en-US" sz="1500" dirty="0" err="1"/>
              <a:t>product_qty</a:t>
            </a:r>
            <a:endParaRPr lang="en-US" sz="1500" dirty="0"/>
          </a:p>
          <a:p>
            <a:pPr lvl="2"/>
            <a:r>
              <a:rPr lang="en-US" sz="1500" b="1" dirty="0"/>
              <a:t>Time Attributes:</a:t>
            </a:r>
            <a:r>
              <a:rPr lang="en-US" sz="1500" dirty="0"/>
              <a:t> </a:t>
            </a:r>
            <a:r>
              <a:rPr lang="en-US" sz="1500" dirty="0" err="1"/>
              <a:t>purchase_date</a:t>
            </a:r>
            <a:r>
              <a:rPr lang="en-US" sz="1500" dirty="0"/>
              <a:t>, month, day</a:t>
            </a:r>
          </a:p>
          <a:p>
            <a:pPr lvl="2"/>
            <a:r>
              <a:rPr lang="en-US" sz="1500" b="1" dirty="0"/>
              <a:t>Financial Metrics:</a:t>
            </a:r>
            <a:r>
              <a:rPr lang="en-US" sz="1500" dirty="0"/>
              <a:t> revenue, profit, </a:t>
            </a:r>
            <a:r>
              <a:rPr lang="en-US" sz="1500" dirty="0" err="1"/>
              <a:t>profit_margin</a:t>
            </a:r>
            <a:endParaRPr lang="en-US" sz="1500" dirty="0"/>
          </a:p>
          <a:p>
            <a:pPr lvl="1"/>
            <a:r>
              <a:rPr lang="en-US" sz="1500" b="1" dirty="0"/>
              <a:t>Calculated Metrics:</a:t>
            </a:r>
            <a:endParaRPr lang="en-US" sz="1500" dirty="0"/>
          </a:p>
          <a:p>
            <a:pPr lvl="2"/>
            <a:r>
              <a:rPr lang="en-US" sz="1500" dirty="0"/>
              <a:t>Revenue &amp; profit contribution</a:t>
            </a:r>
          </a:p>
          <a:p>
            <a:pPr lvl="2"/>
            <a:r>
              <a:rPr lang="en-US" sz="1500" dirty="0"/>
              <a:t>Profit margin (%)</a:t>
            </a:r>
          </a:p>
          <a:p>
            <a:pPr lvl="2"/>
            <a:r>
              <a:rPr lang="en-US" sz="1500" dirty="0"/>
              <a:t>Customer &amp; city-level aggregation KPIs</a:t>
            </a:r>
          </a:p>
          <a:p>
            <a:pPr lvl="2"/>
            <a:r>
              <a:rPr lang="en-US" sz="1500" dirty="0"/>
              <a:t>Time-based performance indicators (monthly &amp; weekday trends)</a:t>
            </a:r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4172272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011E3-A2A8-7794-5F23-FB02F995C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r>
              <a:rPr lang="en-US" dirty="0"/>
              <a:t>💻 </a:t>
            </a:r>
            <a:r>
              <a:rPr lang="en-US" b="1" dirty="0"/>
              <a:t>Tech Stack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62CC4-E061-AD0B-12AC-E035660543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" y="1536192"/>
            <a:ext cx="12192000" cy="53035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Tools:</a:t>
            </a:r>
            <a:endParaRPr lang="en-US" sz="1500" dirty="0"/>
          </a:p>
          <a:p>
            <a:pPr lvl="1"/>
            <a:r>
              <a:rPr lang="en-US" sz="1500" b="1" dirty="0"/>
              <a:t>Excel / CSV</a:t>
            </a:r>
            <a:endParaRPr lang="en-US" sz="1500" dirty="0"/>
          </a:p>
          <a:p>
            <a:pPr lvl="2"/>
            <a:r>
              <a:rPr lang="en-US" sz="1500" dirty="0"/>
              <a:t>Data storage &amp; preprocessing</a:t>
            </a:r>
            <a:endParaRPr lang="en-US" sz="1500" b="1" dirty="0"/>
          </a:p>
          <a:p>
            <a:pPr lvl="1"/>
            <a:r>
              <a:rPr lang="en-US" sz="1500" b="1" dirty="0"/>
              <a:t>Python</a:t>
            </a:r>
          </a:p>
          <a:p>
            <a:pPr lvl="2"/>
            <a:r>
              <a:rPr lang="en-US" sz="1500" dirty="0"/>
              <a:t>Pandas, NumPy, Matplotlib, Seaborn</a:t>
            </a:r>
          </a:p>
          <a:p>
            <a:pPr lvl="1"/>
            <a:r>
              <a:rPr lang="en-US" sz="1500" b="1" dirty="0"/>
              <a:t>Jupyter Notebook</a:t>
            </a:r>
          </a:p>
          <a:p>
            <a:pPr lvl="2"/>
            <a:r>
              <a:rPr lang="en-US" sz="1500" dirty="0"/>
              <a:t> Data cleaning, EDA &amp; visual analysis</a:t>
            </a:r>
            <a:endParaRPr lang="en-US" sz="1500" b="1" dirty="0"/>
          </a:p>
          <a:p>
            <a:pPr lvl="1"/>
            <a:r>
              <a:rPr lang="en-US" sz="1500" b="1" dirty="0"/>
              <a:t>PowerQuery</a:t>
            </a:r>
            <a:r>
              <a:rPr lang="en-US" sz="1500" dirty="0"/>
              <a:t> </a:t>
            </a:r>
          </a:p>
          <a:p>
            <a:pPr lvl="2"/>
            <a:r>
              <a:rPr lang="en-US" sz="1500" dirty="0"/>
              <a:t>ETL transformations</a:t>
            </a:r>
            <a:endParaRPr lang="en-US" sz="1500" b="1" dirty="0"/>
          </a:p>
          <a:p>
            <a:pPr lvl="1"/>
            <a:r>
              <a:rPr lang="en-US" sz="1500" b="1" dirty="0"/>
              <a:t>PowerBI</a:t>
            </a:r>
          </a:p>
          <a:p>
            <a:pPr lvl="2"/>
            <a:r>
              <a:rPr lang="en-US" sz="1500" dirty="0"/>
              <a:t>Visualization, DAX measures &amp; dashboard design</a:t>
            </a:r>
          </a:p>
          <a:p>
            <a:pPr lvl="2"/>
            <a:r>
              <a:rPr lang="en-US" sz="1500" b="1" dirty="0"/>
              <a:t>DAX</a:t>
            </a:r>
            <a:r>
              <a:rPr lang="en-US" sz="1500" dirty="0"/>
              <a:t> – Calculated measures and time intelligence</a:t>
            </a:r>
          </a:p>
          <a:p>
            <a:pPr lvl="1"/>
            <a:r>
              <a:rPr lang="en-US" sz="1500" b="1" dirty="0"/>
              <a:t>PowerPoint</a:t>
            </a:r>
          </a:p>
          <a:p>
            <a:pPr lvl="2"/>
            <a:r>
              <a:rPr lang="en-US" sz="1500" dirty="0"/>
              <a:t>Presentation and final dashboard snapshots</a:t>
            </a:r>
          </a:p>
        </p:txBody>
      </p:sp>
    </p:spTree>
    <p:extLst>
      <p:ext uri="{BB962C8B-B14F-4D97-AF65-F5344CB8AC3E}">
        <p14:creationId xmlns:p14="http://schemas.microsoft.com/office/powerpoint/2010/main" val="41328285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941B6-B3B2-523E-A6EE-541D84834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16151"/>
          </a:xfrm>
        </p:spPr>
        <p:txBody>
          <a:bodyPr/>
          <a:lstStyle/>
          <a:p>
            <a:r>
              <a:rPr lang="en-US" dirty="0"/>
              <a:t>📈 </a:t>
            </a:r>
            <a:r>
              <a:rPr lang="en-US" b="1" dirty="0"/>
              <a:t>Methodology &amp; Analysis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635A2-BF86-574F-A84C-1D37A00082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62456"/>
            <a:ext cx="12192000" cy="549554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/>
              <a:t>Data Preparation &amp; Cleaning:</a:t>
            </a:r>
          </a:p>
          <a:p>
            <a:pPr lvl="1"/>
            <a:r>
              <a:rPr lang="en-US" sz="1400" dirty="0"/>
              <a:t>Removed invalid and "N/A" category values</a:t>
            </a:r>
          </a:p>
          <a:p>
            <a:pPr lvl="1"/>
            <a:r>
              <a:rPr lang="en-US" sz="1400" dirty="0"/>
              <a:t>Standardized categorical fields (Gender, City, State, Month)</a:t>
            </a:r>
          </a:p>
          <a:p>
            <a:pPr lvl="1"/>
            <a:r>
              <a:rPr lang="en-US" sz="1400" dirty="0"/>
              <a:t>Verified data consistency between Python &amp; Power BI outputs</a:t>
            </a:r>
          </a:p>
          <a:p>
            <a:pPr marL="0" indent="0">
              <a:buNone/>
            </a:pPr>
            <a:r>
              <a:rPr lang="en-US" sz="1400" b="1" dirty="0"/>
              <a:t>Data Modeling &amp; Integration:</a:t>
            </a:r>
            <a:endParaRPr lang="en-US" sz="1400" dirty="0"/>
          </a:p>
          <a:p>
            <a:pPr lvl="1"/>
            <a:r>
              <a:rPr lang="en-US" sz="1400" dirty="0"/>
              <a:t>Combined customer, product, and transaction tables into a unified dataset</a:t>
            </a:r>
          </a:p>
          <a:p>
            <a:pPr lvl="1"/>
            <a:r>
              <a:rPr lang="en-US" sz="1400" dirty="0"/>
              <a:t>Established relationships for customer, geography, and time dimensions</a:t>
            </a:r>
          </a:p>
          <a:p>
            <a:pPr marL="0" indent="0">
              <a:buNone/>
            </a:pPr>
            <a:r>
              <a:rPr lang="en-US" sz="1400" b="1" dirty="0"/>
              <a:t>Feature Engineering:</a:t>
            </a:r>
            <a:endParaRPr lang="en-US" sz="1400" dirty="0"/>
          </a:p>
          <a:p>
            <a:pPr lvl="1"/>
            <a:r>
              <a:rPr lang="en-US" sz="1400" dirty="0"/>
              <a:t>Created derived columns for month &amp; weekday analysis</a:t>
            </a:r>
          </a:p>
          <a:p>
            <a:pPr lvl="1"/>
            <a:r>
              <a:rPr lang="en-US" sz="1400" dirty="0"/>
              <a:t>Computed profit margins and revenue contribution metrics</a:t>
            </a:r>
          </a:p>
          <a:p>
            <a:pPr lvl="1"/>
            <a:r>
              <a:rPr lang="en-US" sz="1400" dirty="0"/>
              <a:t>Aggregated KPIs at customer, city, state, and product levels</a:t>
            </a:r>
          </a:p>
          <a:p>
            <a:pPr marL="0" indent="0">
              <a:buNone/>
            </a:pPr>
            <a:r>
              <a:rPr lang="en-US" sz="1400" b="1" dirty="0"/>
              <a:t>Visualization Design:</a:t>
            </a:r>
            <a:endParaRPr lang="en-US" sz="1400" dirty="0"/>
          </a:p>
          <a:p>
            <a:pPr lvl="1"/>
            <a:r>
              <a:rPr lang="en-US" sz="1400" dirty="0"/>
              <a:t>Built two interactive dashboards:</a:t>
            </a:r>
          </a:p>
          <a:p>
            <a:pPr lvl="2"/>
            <a:r>
              <a:rPr lang="en-US" sz="1400" i="1" dirty="0"/>
              <a:t>Customer &amp; Location Insights</a:t>
            </a:r>
          </a:p>
          <a:p>
            <a:pPr lvl="2"/>
            <a:r>
              <a:rPr lang="en-US" sz="1400" i="1" dirty="0"/>
              <a:t>Product &amp; Company Insights</a:t>
            </a:r>
          </a:p>
          <a:p>
            <a:pPr lvl="1"/>
            <a:r>
              <a:rPr lang="en-US" sz="1400" dirty="0"/>
              <a:t>Integrated interactive slicers for dynamic segmentation</a:t>
            </a:r>
          </a:p>
          <a:p>
            <a:pPr lvl="1"/>
            <a:r>
              <a:rPr lang="en-US" sz="1400" dirty="0"/>
              <a:t>Ensured consistent color schemes &amp; labeling across visuals</a:t>
            </a:r>
          </a:p>
          <a:p>
            <a:pPr marL="0" indent="0">
              <a:buNone/>
            </a:pPr>
            <a:r>
              <a:rPr lang="en-US" sz="1400" b="1" dirty="0"/>
              <a:t>Validation &amp; Formatting:</a:t>
            </a:r>
            <a:endParaRPr lang="en-US" sz="1400" dirty="0"/>
          </a:p>
          <a:p>
            <a:pPr lvl="1"/>
            <a:r>
              <a:rPr lang="en-US" sz="1400" dirty="0"/>
              <a:t>Cross-validated Python visuals with Power BI outputs</a:t>
            </a:r>
          </a:p>
          <a:p>
            <a:pPr lvl="1"/>
            <a:r>
              <a:rPr lang="en-US" sz="1400" dirty="0"/>
              <a:t>Ensured sorting, ordering (months, cities), and KPI consistency</a:t>
            </a:r>
          </a:p>
        </p:txBody>
      </p:sp>
    </p:spTree>
    <p:extLst>
      <p:ext uri="{BB962C8B-B14F-4D97-AF65-F5344CB8AC3E}">
        <p14:creationId xmlns:p14="http://schemas.microsoft.com/office/powerpoint/2010/main" val="2181986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9B5B7-385A-001C-9ABC-EBA78E047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36F87-DF18-5AE1-0FC7-89A1C41FF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97280"/>
          </a:xfrm>
        </p:spPr>
        <p:txBody>
          <a:bodyPr/>
          <a:lstStyle/>
          <a:p>
            <a:r>
              <a:rPr lang="en-US" dirty="0"/>
              <a:t>❓ </a:t>
            </a:r>
            <a:r>
              <a:rPr lang="en-US" b="1" dirty="0"/>
              <a:t>Problem Statement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D71D2-ABCA-6D67-B60E-962812489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72768"/>
            <a:ext cx="12192000" cy="52852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Retail businesses generate large volumes of transactional data across customers, products, locations, and time, yet actionable insights are often difficult to extract without structured analysis.</a:t>
            </a:r>
            <a:br>
              <a:rPr lang="en-US" sz="1500" dirty="0"/>
            </a:br>
            <a:endParaRPr lang="en-US" sz="1500" dirty="0"/>
          </a:p>
          <a:p>
            <a:pPr marL="0" indent="0">
              <a:buNone/>
            </a:pPr>
            <a:r>
              <a:rPr lang="en-US" sz="1500" dirty="0"/>
              <a:t>This project analyzes customer-level sales data to understand purchasing behavior, geographic performance, and profitability drivers, enabling stakeholders to identify high-value customers, top-performing regions, and opportunities to improve revenue and profit margins.</a:t>
            </a:r>
            <a:endParaRPr lang="en-US" sz="1500" b="1" dirty="0"/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Key Questions:</a:t>
            </a:r>
            <a:endParaRPr lang="en-US" sz="1500" dirty="0"/>
          </a:p>
          <a:p>
            <a:pPr lvl="1"/>
            <a:r>
              <a:rPr lang="en-US" sz="1500" dirty="0"/>
              <a:t>Which customer segments generate the highest revenue and profit?</a:t>
            </a:r>
          </a:p>
          <a:p>
            <a:pPr lvl="1"/>
            <a:r>
              <a:rPr lang="en-US" sz="1500" dirty="0"/>
              <a:t>Which states and cities contribute most to business performance?</a:t>
            </a:r>
          </a:p>
          <a:p>
            <a:pPr lvl="1"/>
            <a:r>
              <a:rPr lang="en-US" sz="1500" dirty="0"/>
              <a:t>How does gender impact revenue and profit trends?</a:t>
            </a:r>
          </a:p>
          <a:p>
            <a:pPr lvl="1"/>
            <a:r>
              <a:rPr lang="en-US" sz="1500" dirty="0"/>
              <a:t>What are the top-performing products and companies?</a:t>
            </a:r>
          </a:p>
          <a:p>
            <a:pPr lvl="1"/>
            <a:r>
              <a:rPr lang="en-US" sz="1500" dirty="0"/>
              <a:t>Which months and weekdays drive maximum sales?</a:t>
            </a:r>
          </a:p>
          <a:p>
            <a:pPr lvl="1"/>
            <a:r>
              <a:rPr lang="en-US" sz="1500" dirty="0"/>
              <a:t>Where are profit margins the strongest geographically?</a:t>
            </a:r>
          </a:p>
        </p:txBody>
      </p:sp>
    </p:spTree>
    <p:extLst>
      <p:ext uri="{BB962C8B-B14F-4D97-AF65-F5344CB8AC3E}">
        <p14:creationId xmlns:p14="http://schemas.microsoft.com/office/powerpoint/2010/main" val="1031171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7E577-2B86-C564-14EB-D400F7E5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1737A-7469-A45C-89DC-D3ADD9657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/>
          <a:lstStyle/>
          <a:p>
            <a:r>
              <a:rPr lang="en-US" dirty="0"/>
              <a:t>💡 </a:t>
            </a:r>
            <a:r>
              <a:rPr lang="en-US" b="1" dirty="0"/>
              <a:t>Key Insights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D4CCC3-91A6-23AA-28FD-3DC132AF9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93976"/>
            <a:ext cx="12192000" cy="47640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Top Findings:</a:t>
            </a:r>
            <a:endParaRPr lang="en-US" sz="1500" dirty="0"/>
          </a:p>
          <a:p>
            <a:pPr lvl="1"/>
            <a:r>
              <a:rPr lang="en-US" sz="1500" dirty="0"/>
              <a:t>Male customers slightly outperform females in total revenue &amp; profit.</a:t>
            </a:r>
          </a:p>
          <a:p>
            <a:pPr lvl="1"/>
            <a:r>
              <a:rPr lang="en-US" sz="1500" dirty="0"/>
              <a:t>Texas and California are </a:t>
            </a:r>
            <a:r>
              <a:rPr lang="en-US" sz="1500" b="1" dirty="0"/>
              <a:t>top revenue-generating states.</a:t>
            </a:r>
            <a:endParaRPr lang="en-US" sz="1500" dirty="0"/>
          </a:p>
          <a:p>
            <a:pPr lvl="1"/>
            <a:r>
              <a:rPr lang="en-US" sz="1500" dirty="0"/>
              <a:t>Washington and El Paso lead in </a:t>
            </a:r>
            <a:r>
              <a:rPr lang="en-US" sz="1500" b="1" dirty="0"/>
              <a:t>customer concentration.</a:t>
            </a:r>
            <a:endParaRPr lang="en-US" sz="1500" dirty="0"/>
          </a:p>
          <a:p>
            <a:pPr lvl="1"/>
            <a:r>
              <a:rPr lang="en-US" sz="1500" dirty="0"/>
              <a:t>A small group of customers contributes disproportionately to revenue.</a:t>
            </a:r>
          </a:p>
          <a:p>
            <a:pPr lvl="1"/>
            <a:r>
              <a:rPr lang="en-US" sz="1500" dirty="0"/>
              <a:t>Certain products and companies dominate overall sales.</a:t>
            </a:r>
          </a:p>
          <a:p>
            <a:pPr lvl="1"/>
            <a:r>
              <a:rPr lang="en-US" sz="1500" dirty="0"/>
              <a:t>Revenue peaks during specific months, showing </a:t>
            </a:r>
            <a:r>
              <a:rPr lang="en-US" sz="1500" b="1" dirty="0"/>
              <a:t>seasonal trends.</a:t>
            </a:r>
            <a:endParaRPr lang="en-US" sz="1500" dirty="0"/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Supporting Metrics:</a:t>
            </a:r>
            <a:endParaRPr lang="en-US" sz="1500" dirty="0"/>
          </a:p>
          <a:p>
            <a:pPr lvl="1"/>
            <a:r>
              <a:rPr lang="en-US" sz="1500" b="1" dirty="0"/>
              <a:t>Total Customers:</a:t>
            </a:r>
            <a:r>
              <a:rPr lang="en-US" sz="1500" dirty="0"/>
              <a:t> ~1000</a:t>
            </a:r>
          </a:p>
          <a:p>
            <a:pPr lvl="1"/>
            <a:r>
              <a:rPr lang="en-US" sz="1500" b="1" dirty="0"/>
              <a:t>Total Revenue:</a:t>
            </a:r>
            <a:r>
              <a:rPr lang="en-US" sz="1500" dirty="0"/>
              <a:t> ~3.29M</a:t>
            </a:r>
          </a:p>
          <a:p>
            <a:pPr lvl="1"/>
            <a:r>
              <a:rPr lang="en-US" sz="1500" b="1" dirty="0"/>
              <a:t>Total Profit:</a:t>
            </a:r>
            <a:r>
              <a:rPr lang="en-US" sz="1500" dirty="0"/>
              <a:t> ~2.96M</a:t>
            </a:r>
          </a:p>
          <a:p>
            <a:pPr lvl="1"/>
            <a:r>
              <a:rPr lang="en-US" sz="1500" b="1" dirty="0"/>
              <a:t>Average Profit Margin:</a:t>
            </a:r>
            <a:r>
              <a:rPr lang="en-US" sz="1500" dirty="0"/>
              <a:t> ~80%</a:t>
            </a:r>
          </a:p>
        </p:txBody>
      </p:sp>
    </p:spTree>
    <p:extLst>
      <p:ext uri="{BB962C8B-B14F-4D97-AF65-F5344CB8AC3E}">
        <p14:creationId xmlns:p14="http://schemas.microsoft.com/office/powerpoint/2010/main" val="3732127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81B5-C578-E115-D4EE-3B5B5CC69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80159"/>
          </a:xfrm>
        </p:spPr>
        <p:txBody>
          <a:bodyPr/>
          <a:lstStyle/>
          <a:p>
            <a:r>
              <a:rPr lang="en-US" dirty="0"/>
              <a:t>📍</a:t>
            </a:r>
            <a:r>
              <a:rPr lang="en-US" b="1" dirty="0"/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3F1E8-B7D8-C1FF-1F55-3E5F6C36A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20824"/>
            <a:ext cx="12192000" cy="48371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Summary:</a:t>
            </a:r>
            <a:endParaRPr lang="en-US" sz="1500" dirty="0"/>
          </a:p>
          <a:p>
            <a:pPr lvl="1"/>
            <a:r>
              <a:rPr lang="en-US" sz="1500" dirty="0" err="1"/>
              <a:t>NovaKart’s</a:t>
            </a:r>
            <a:r>
              <a:rPr lang="en-US" sz="1500" dirty="0"/>
              <a:t> performance is driven by </a:t>
            </a:r>
            <a:r>
              <a:rPr lang="en-US" sz="1500" b="1" dirty="0"/>
              <a:t>specific customer segments, cities, and products.</a:t>
            </a:r>
            <a:endParaRPr lang="en-US" sz="1500" dirty="0"/>
          </a:p>
          <a:p>
            <a:pPr lvl="1"/>
            <a:r>
              <a:rPr lang="en-US" sz="1500" dirty="0"/>
              <a:t>Geographic and demographic analysis reveals </a:t>
            </a:r>
            <a:r>
              <a:rPr lang="en-US" sz="1500" b="1" dirty="0"/>
              <a:t>clear revenue concentration.</a:t>
            </a:r>
            <a:endParaRPr lang="en-US" sz="1500" dirty="0"/>
          </a:p>
          <a:p>
            <a:pPr lvl="1"/>
            <a:r>
              <a:rPr lang="en-US" sz="1500" dirty="0"/>
              <a:t>Python and Power BI results are </a:t>
            </a:r>
            <a:r>
              <a:rPr lang="en-US" sz="1500" b="1" dirty="0"/>
              <a:t>aligned and consistent.</a:t>
            </a:r>
            <a:endParaRPr lang="en-US" sz="1500" dirty="0"/>
          </a:p>
          <a:p>
            <a:pPr lvl="1"/>
            <a:r>
              <a:rPr lang="en-US" sz="1500" dirty="0"/>
              <a:t>Insights can guide </a:t>
            </a:r>
            <a:r>
              <a:rPr lang="en-US" sz="1500" b="1" dirty="0"/>
              <a:t>targeted marketing, inventory planning, and regional focus.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9309392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4EE8F-1C7D-473A-67DC-0702E54E3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17CD5-1967-34C2-0596-52403C529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>
            <a:normAutofit/>
          </a:bodyPr>
          <a:lstStyle/>
          <a:p>
            <a:r>
              <a:rPr lang="en-US" sz="4000" b="1" dirty="0"/>
              <a:t>🖥️ Dashboard </a:t>
            </a:r>
            <a:r>
              <a:rPr lang="en-US" sz="4000" b="1"/>
              <a:t>Overview (1) </a:t>
            </a:r>
            <a:r>
              <a:rPr lang="en-US" sz="4000" b="1" dirty="0"/>
              <a:t>– Customer &amp; Location Insights 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67E9BAA-96D4-32F0-0D02-6644CBF9A0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1016"/>
            <a:ext cx="12192000" cy="5586984"/>
          </a:xfrm>
        </p:spPr>
      </p:pic>
    </p:spTree>
    <p:extLst>
      <p:ext uri="{BB962C8B-B14F-4D97-AF65-F5344CB8AC3E}">
        <p14:creationId xmlns:p14="http://schemas.microsoft.com/office/powerpoint/2010/main" val="1029989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D3C93-9CE2-F428-1842-837A8776E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>
            <a:normAutofit/>
          </a:bodyPr>
          <a:lstStyle/>
          <a:p>
            <a:r>
              <a:rPr lang="en-US" sz="4000" dirty="0"/>
              <a:t>🖥️ </a:t>
            </a:r>
            <a:r>
              <a:rPr lang="en-US" sz="4000" b="1" dirty="0"/>
              <a:t>Dashboard Overview (2) – Product &amp; Company Insights</a:t>
            </a:r>
            <a:endParaRPr lang="en-US" sz="40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889F88B-53C5-6E76-7411-D85BBD5835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71600"/>
            <a:ext cx="12192000" cy="5487215"/>
          </a:xfrm>
        </p:spPr>
      </p:pic>
    </p:spTree>
    <p:extLst>
      <p:ext uri="{BB962C8B-B14F-4D97-AF65-F5344CB8AC3E}">
        <p14:creationId xmlns:p14="http://schemas.microsoft.com/office/powerpoint/2010/main" val="1562063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D6ED4EB1-EC5B-B0B3-8334-6112BDBABBA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236235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✅ Business Impact &amp; Use Cases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0B4174BB-98E7-78BD-9015-5D65B1A84CA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" y="1930872"/>
            <a:ext cx="12088367" cy="3770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/>
            <a:r>
              <a:rPr lang="en-US" sz="1500" b="1" dirty="0"/>
              <a:t>Helps management identify high-value customers. </a:t>
            </a:r>
            <a:r>
              <a:rPr lang="en-US" sz="1500" dirty="0"/>
              <a:t>Enables leadership to recognize customers contributing the highest revenue and profit, supporting targeted retention, personalized offers, and loyalty initiatives.</a:t>
            </a:r>
          </a:p>
          <a:p>
            <a:endParaRPr lang="en-US" sz="1500" b="1" dirty="0"/>
          </a:p>
          <a:p>
            <a:pPr lvl="1"/>
            <a:r>
              <a:rPr lang="en-US" sz="1500" b="1" dirty="0"/>
              <a:t>Enables region-wise strategy optimization. </a:t>
            </a:r>
            <a:r>
              <a:rPr lang="en-US" sz="1500" dirty="0"/>
              <a:t>Provides clear visibility into state- and city-level performance, helping decision-makers prioritize high-performing regions and improve strategies in underperforming locations.</a:t>
            </a:r>
          </a:p>
          <a:p>
            <a:endParaRPr lang="en-US" sz="1500" b="1" dirty="0"/>
          </a:p>
          <a:p>
            <a:pPr lvl="1"/>
            <a:r>
              <a:rPr lang="en-US" sz="1500" b="1" dirty="0"/>
              <a:t>Supports product &amp; vendor performance evaluation. </a:t>
            </a:r>
            <a:r>
              <a:rPr lang="en-US" sz="1500" dirty="0"/>
              <a:t>Assists in identifying top-selling and most profitable products and companies, enabling informed decisions around inventory planning, vendor partnerships, and portfolio optimization.</a:t>
            </a:r>
          </a:p>
          <a:p>
            <a:endParaRPr lang="en-US" sz="1500" b="1" dirty="0"/>
          </a:p>
          <a:p>
            <a:pPr lvl="1"/>
            <a:r>
              <a:rPr lang="en-US" sz="1500" b="1" dirty="0"/>
              <a:t>Assists in seasonal demand forecasting. </a:t>
            </a:r>
            <a:r>
              <a:rPr lang="en-US" sz="1500" dirty="0"/>
              <a:t>Reveals month-wise and weekday-wise sales patterns, helping businesses anticipate demand fluctuations, plan promotions, and allocate resources effectively.</a:t>
            </a:r>
          </a:p>
          <a:p>
            <a:endParaRPr lang="en-US" sz="1500" b="1" dirty="0"/>
          </a:p>
          <a:p>
            <a:pPr lvl="1"/>
            <a:r>
              <a:rPr lang="en-US" sz="1500" b="1" dirty="0"/>
              <a:t>Can be extended for pricing, discount &amp; loyalty analysis. </a:t>
            </a:r>
            <a:r>
              <a:rPr lang="en-US" sz="1500" dirty="0"/>
              <a:t>The analytical framework can be scaled to evaluate pricing strategies, discount effectiveness, and customer loyalty programs for future business growth.</a:t>
            </a:r>
          </a:p>
        </p:txBody>
      </p:sp>
    </p:spTree>
    <p:extLst>
      <p:ext uri="{BB962C8B-B14F-4D97-AF65-F5344CB8AC3E}">
        <p14:creationId xmlns:p14="http://schemas.microsoft.com/office/powerpoint/2010/main" val="2862602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854EA-C6C0-AD7A-DFE4-7B107D73F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2143"/>
          </a:xfrm>
        </p:spPr>
        <p:txBody>
          <a:bodyPr/>
          <a:lstStyle/>
          <a:p>
            <a:r>
              <a:rPr lang="en-US" dirty="0"/>
              <a:t>🙏 </a:t>
            </a:r>
            <a:r>
              <a:rPr lang="en-US" b="1" dirty="0"/>
              <a:t>Acknowledgement &amp; Contact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7620C-3B01-BD8D-C488-C2363A934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12192000" cy="5349239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Project Analyst: </a:t>
            </a:r>
            <a:r>
              <a:rPr lang="en-US" dirty="0"/>
              <a:t>Anik Chakraborty</a:t>
            </a:r>
            <a:br>
              <a:rPr lang="en-US" dirty="0"/>
            </a:br>
            <a:r>
              <a:rPr lang="en-US" dirty="0"/>
              <a:t>		📧 Email: anikc1710@gmail.com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Special Thanks To:</a:t>
            </a:r>
            <a:endParaRPr lang="en-US" dirty="0"/>
          </a:p>
          <a:p>
            <a:pPr lvl="1"/>
            <a:r>
              <a:rPr lang="en-US" b="1" dirty="0"/>
              <a:t>Coding Ninjas</a:t>
            </a:r>
            <a:r>
              <a:rPr lang="en-US" dirty="0"/>
              <a:t> – for project framework and guidance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Connect:</a:t>
            </a:r>
            <a:br>
              <a:rPr lang="en-US" dirty="0"/>
            </a:br>
            <a:r>
              <a:rPr lang="en-US" dirty="0">
                <a:hlinkClick r:id="rId2"/>
              </a:rPr>
              <a:t>🔗 GitHub</a:t>
            </a:r>
            <a:r>
              <a:rPr lang="en-US" dirty="0"/>
              <a:t> | </a:t>
            </a:r>
            <a:r>
              <a:rPr lang="en-US" dirty="0">
                <a:hlinkClick r:id="rId3"/>
              </a:rPr>
              <a:t>🔗 LinkedIn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79270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2DE7D-CAB5-CBBB-05B8-C656AA0A0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857999"/>
          </a:xfrm>
        </p:spPr>
        <p:txBody>
          <a:bodyPr>
            <a:normAutofit/>
          </a:bodyPr>
          <a:lstStyle/>
          <a:p>
            <a:pPr algn="ctr"/>
            <a:r>
              <a:rPr lang="en-US" sz="9600" b="1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7349951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5368</TotalTime>
  <Words>1023</Words>
  <Application>Microsoft Office PowerPoint</Application>
  <PresentationFormat>Widescreen</PresentationFormat>
  <Paragraphs>135</Paragraphs>
  <Slides>14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NovaKart – Customer Insights &amp; Revenue Performance Analysis</vt:lpstr>
      <vt:lpstr>🎯 Objective</vt:lpstr>
      <vt:lpstr>📘 Project Overview</vt:lpstr>
      <vt:lpstr>🗂️ Data Overview &amp; Schema</vt:lpstr>
      <vt:lpstr>💻 Tech Stack</vt:lpstr>
      <vt:lpstr>📈 Methodology &amp; Analysis</vt:lpstr>
      <vt:lpstr>❓ Problem Statement</vt:lpstr>
      <vt:lpstr>💡 Key Insights</vt:lpstr>
      <vt:lpstr>📍Conclusion</vt:lpstr>
      <vt:lpstr>🖥️ Dashboard Overview (1) – Customer &amp; Location Insights </vt:lpstr>
      <vt:lpstr>🖥️ Dashboard Overview (2) – Product &amp; Company Insights</vt:lpstr>
      <vt:lpstr>✅ Business Impact &amp; Use Cases</vt:lpstr>
      <vt:lpstr>🙏 Acknowledgement &amp; Contact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Anik Chakraborty</dc:creator>
  <cp:lastModifiedBy>Anik Chakraborty</cp:lastModifiedBy>
  <cp:revision>43</cp:revision>
  <dcterms:created xsi:type="dcterms:W3CDTF">2025-10-10T07:10:37Z</dcterms:created>
  <dcterms:modified xsi:type="dcterms:W3CDTF">2026-01-02T14:48:17Z</dcterms:modified>
</cp:coreProperties>
</file>